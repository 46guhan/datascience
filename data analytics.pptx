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8" r:id="rId3"/>
    <p:sldId id="259" r:id="rId4"/>
    <p:sldId id="260" r:id="rId5"/>
    <p:sldId id="261" r:id="rId6"/>
    <p:sldId id="264" r:id="rId7"/>
    <p:sldId id="265" r:id="rId8"/>
    <p:sldId id="266" r:id="rId9"/>
    <p:sldId id="267" r:id="rId10"/>
    <p:sldId id="269" r:id="rId11"/>
    <p:sldId id="271" r:id="rId12"/>
    <p:sldId id="270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9D2-2FFD-4A76-819C-1BC315CEC78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8B510-3CE2-4E37-83CD-30CCF925C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321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9D2-2FFD-4A76-819C-1BC315CEC78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8B510-3CE2-4E37-83CD-30CCF925C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07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9D2-2FFD-4A76-819C-1BC315CEC78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8B510-3CE2-4E37-83CD-30CCF925C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524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9D2-2FFD-4A76-819C-1BC315CEC78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8B510-3CE2-4E37-83CD-30CCF925C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79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9D2-2FFD-4A76-819C-1BC315CEC78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8B510-3CE2-4E37-83CD-30CCF925C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59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9D2-2FFD-4A76-819C-1BC315CEC78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8B510-3CE2-4E37-83CD-30CCF925C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37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9D2-2FFD-4A76-819C-1BC315CEC78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8B510-3CE2-4E37-83CD-30CCF925C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325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9D2-2FFD-4A76-819C-1BC315CEC78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B1E8B510-3CE2-4E37-83CD-30CCF925C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709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9D2-2FFD-4A76-819C-1BC315CEC78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8B510-3CE2-4E37-83CD-30CCF925C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93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9D2-2FFD-4A76-819C-1BC315CEC78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8B510-3CE2-4E37-83CD-30CCF925C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024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9D2-2FFD-4A76-819C-1BC315CEC78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8B510-3CE2-4E37-83CD-30CCF925C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076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D25F9D2-2FFD-4A76-819C-1BC315CEC78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B1E8B510-3CE2-4E37-83CD-30CCF925C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6139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ata Analyst Job Description | Data Analyst Skills, Duties,  Responsibilities | Data Analyst Certifi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132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1936" y="365980"/>
            <a:ext cx="39147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 smtClean="0"/>
              <a:t>Data Analytics</a:t>
            </a:r>
            <a:endParaRPr lang="en-IN" sz="4400" b="1" dirty="0"/>
          </a:p>
        </p:txBody>
      </p:sp>
      <p:sp>
        <p:nvSpPr>
          <p:cNvPr id="3" name="Rectangle 2"/>
          <p:cNvSpPr/>
          <p:nvPr/>
        </p:nvSpPr>
        <p:spPr>
          <a:xfrm>
            <a:off x="1754978" y="1270974"/>
            <a:ext cx="871776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 smtClean="0"/>
              <a:t>Data analytics</a:t>
            </a:r>
            <a:r>
              <a:rPr lang="en-GB" sz="2400" dirty="0" smtClean="0"/>
              <a:t> is the process of collecting, cleaning, transforming, and </a:t>
            </a:r>
            <a:r>
              <a:rPr lang="en-GB" sz="2400" dirty="0" err="1" smtClean="0"/>
              <a:t>analyzing</a:t>
            </a:r>
            <a:r>
              <a:rPr lang="en-GB" sz="2400" dirty="0" smtClean="0"/>
              <a:t> data to uncover useful insights, support decision-making, and drive strategic actions.</a:t>
            </a:r>
            <a:endParaRPr lang="en-IN" sz="2400" dirty="0"/>
          </a:p>
        </p:txBody>
      </p:sp>
      <p:pic>
        <p:nvPicPr>
          <p:cNvPr id="5122" name="Picture 2" descr="Impact of AI in Data Analytics for Enhanced Business Insigh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243" y="3103595"/>
            <a:ext cx="6380163" cy="3554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7227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3474" y="1949440"/>
            <a:ext cx="10467976" cy="346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457200">
              <a:spcAft>
                <a:spcPts val="1800"/>
              </a:spcAft>
              <a:buFont typeface="+mj-lt"/>
              <a:buAutoNum type="arabicPeriod"/>
            </a:pPr>
            <a:r>
              <a:rPr lang="en-IN" sz="2400" b="1" dirty="0"/>
              <a:t>Data Collection – Gathering raw data from databases, APIs, surveys, or sensors.</a:t>
            </a:r>
          </a:p>
          <a:p>
            <a:pPr indent="-457200">
              <a:spcAft>
                <a:spcPts val="1800"/>
              </a:spcAft>
              <a:buFont typeface="+mj-lt"/>
              <a:buAutoNum type="arabicPeriod"/>
            </a:pPr>
            <a:r>
              <a:rPr lang="en-IN" sz="2400" b="1" dirty="0"/>
              <a:t>Data Cleaning – Handling missing values, duplicates, and outliers.</a:t>
            </a:r>
          </a:p>
          <a:p>
            <a:pPr indent="-457200">
              <a:spcAft>
                <a:spcPts val="1800"/>
              </a:spcAft>
              <a:buFont typeface="+mj-lt"/>
              <a:buAutoNum type="arabicPeriod"/>
            </a:pPr>
            <a:r>
              <a:rPr lang="en-IN" sz="2400" b="1" dirty="0"/>
              <a:t>Data Transformation – Normalizing, aggregating, and encoding data.</a:t>
            </a:r>
          </a:p>
          <a:p>
            <a:pPr indent="-457200">
              <a:spcAft>
                <a:spcPts val="1800"/>
              </a:spcAft>
              <a:buFont typeface="+mj-lt"/>
              <a:buAutoNum type="arabicPeriod"/>
            </a:pPr>
            <a:r>
              <a:rPr lang="en-IN" sz="2400" b="1" dirty="0"/>
              <a:t>Exploratory Data Analysis (EDA) – Visualizing data to find patterns.</a:t>
            </a:r>
          </a:p>
          <a:p>
            <a:pPr indent="-457200">
              <a:spcAft>
                <a:spcPts val="1800"/>
              </a:spcAft>
              <a:buFont typeface="+mj-lt"/>
              <a:buAutoNum type="arabicPeriod"/>
            </a:pPr>
            <a:r>
              <a:rPr lang="en-IN" sz="2400" b="1" dirty="0" err="1"/>
              <a:t>Modeling</a:t>
            </a:r>
            <a:r>
              <a:rPr lang="en-IN" sz="2400" b="1" dirty="0"/>
              <a:t> &amp; Analysis – Applying statistical or ML models.</a:t>
            </a:r>
          </a:p>
          <a:p>
            <a:pPr indent="-457200">
              <a:spcAft>
                <a:spcPts val="1800"/>
              </a:spcAft>
              <a:buFont typeface="+mj-lt"/>
              <a:buAutoNum type="arabicPeriod"/>
            </a:pPr>
            <a:r>
              <a:rPr lang="en-IN" sz="2400" b="1" dirty="0"/>
              <a:t>Visualization &amp; Reporting – Presenting insights through dashboards or reports.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3013673" y="601147"/>
            <a:ext cx="608166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800" b="1" dirty="0" smtClean="0"/>
              <a:t>Data Analytics Workflow</a:t>
            </a:r>
          </a:p>
        </p:txBody>
      </p:sp>
    </p:spTree>
    <p:extLst>
      <p:ext uri="{BB962C8B-B14F-4D97-AF65-F5344CB8AC3E}">
        <p14:creationId xmlns:p14="http://schemas.microsoft.com/office/powerpoint/2010/main" val="1967680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2900" y="1264088"/>
            <a:ext cx="7443788" cy="4785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buFont typeface="+mj-lt"/>
              <a:buAutoNum type="arabicPeriod"/>
            </a:pPr>
            <a:r>
              <a:rPr lang="en-IN" sz="2000" b="1" dirty="0" smtClean="0"/>
              <a:t>Descriptive Analytics</a:t>
            </a:r>
            <a:r>
              <a:rPr lang="en-IN" sz="2000" dirty="0" smtClean="0"/>
              <a:t> – </a:t>
            </a:r>
            <a:r>
              <a:rPr lang="en-IN" sz="2000" i="1" dirty="0" smtClean="0"/>
              <a:t>What happened?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IN" sz="2000" dirty="0" smtClean="0"/>
              <a:t>	→ Summarizes past data (e.g., sales reports, dashboards).</a:t>
            </a:r>
            <a:br>
              <a:rPr lang="en-IN" sz="2000" dirty="0" smtClean="0"/>
            </a:br>
            <a:r>
              <a:rPr lang="en-IN" sz="2000" dirty="0" smtClean="0"/>
              <a:t>	</a:t>
            </a:r>
            <a:r>
              <a:rPr lang="en-IN" sz="2000" b="1" dirty="0" smtClean="0"/>
              <a:t>Tools:</a:t>
            </a:r>
            <a:r>
              <a:rPr lang="en-IN" sz="2000" dirty="0" smtClean="0"/>
              <a:t> Excel, Tableau</a:t>
            </a:r>
          </a:p>
          <a:p>
            <a:pPr>
              <a:spcAft>
                <a:spcPts val="1800"/>
              </a:spcAft>
              <a:buFont typeface="+mj-lt"/>
              <a:buAutoNum type="arabicPeriod"/>
            </a:pPr>
            <a:r>
              <a:rPr lang="en-IN" sz="2000" b="1" dirty="0" smtClean="0"/>
              <a:t>Diagnostic Analytics</a:t>
            </a:r>
            <a:r>
              <a:rPr lang="en-IN" sz="2000" dirty="0" smtClean="0"/>
              <a:t> – </a:t>
            </a:r>
            <a:r>
              <a:rPr lang="en-IN" sz="2000" i="1" dirty="0" smtClean="0"/>
              <a:t>Why did it happen?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IN" sz="2000" dirty="0" smtClean="0"/>
              <a:t>	→ Explores data to find causes or relationships (e.g., 	correlation, root cause analysis).</a:t>
            </a:r>
            <a:br>
              <a:rPr lang="en-IN" sz="2000" dirty="0" smtClean="0"/>
            </a:br>
            <a:r>
              <a:rPr lang="en-IN" sz="2000" dirty="0" smtClean="0"/>
              <a:t>	</a:t>
            </a:r>
            <a:r>
              <a:rPr lang="en-IN" sz="2000" b="1" dirty="0" smtClean="0"/>
              <a:t>Techniques:</a:t>
            </a:r>
            <a:r>
              <a:rPr lang="en-IN" sz="2000" dirty="0" smtClean="0"/>
              <a:t> Data mining, drill-down analysis</a:t>
            </a:r>
          </a:p>
          <a:p>
            <a:pPr>
              <a:spcAft>
                <a:spcPts val="1800"/>
              </a:spcAft>
              <a:buFont typeface="+mj-lt"/>
              <a:buAutoNum type="arabicPeriod"/>
            </a:pPr>
            <a:r>
              <a:rPr lang="en-IN" sz="2000" b="1" dirty="0" smtClean="0"/>
              <a:t>Predictive Analytics</a:t>
            </a:r>
            <a:r>
              <a:rPr lang="en-IN" sz="2000" dirty="0" smtClean="0"/>
              <a:t> – </a:t>
            </a:r>
            <a:r>
              <a:rPr lang="en-IN" sz="2000" i="1" dirty="0" smtClean="0"/>
              <a:t>What will happen?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IN" sz="2000" dirty="0" smtClean="0"/>
              <a:t>	→ Uses statistics and machine learning to forecast outcomes.</a:t>
            </a:r>
            <a:br>
              <a:rPr lang="en-IN" sz="2000" dirty="0" smtClean="0"/>
            </a:br>
            <a:r>
              <a:rPr lang="en-IN" sz="2000" dirty="0" smtClean="0"/>
              <a:t>	</a:t>
            </a:r>
            <a:r>
              <a:rPr lang="en-IN" sz="2000" b="1" dirty="0" smtClean="0"/>
              <a:t>Tools:</a:t>
            </a:r>
            <a:r>
              <a:rPr lang="en-IN" sz="2000" dirty="0" smtClean="0"/>
              <a:t> Python (</a:t>
            </a:r>
            <a:r>
              <a:rPr lang="en-IN" sz="2000" dirty="0" err="1" smtClean="0"/>
              <a:t>Scikit</a:t>
            </a:r>
            <a:r>
              <a:rPr lang="en-IN" sz="2000" dirty="0" smtClean="0"/>
              <a:t>-learn), R, SAS</a:t>
            </a:r>
          </a:p>
          <a:p>
            <a:pPr>
              <a:spcAft>
                <a:spcPts val="1800"/>
              </a:spcAft>
              <a:buFont typeface="+mj-lt"/>
              <a:buAutoNum type="arabicPeriod"/>
            </a:pPr>
            <a:r>
              <a:rPr lang="en-IN" sz="2000" b="1" dirty="0" smtClean="0"/>
              <a:t>Prescriptive Analytics</a:t>
            </a:r>
            <a:r>
              <a:rPr lang="en-IN" sz="2000" dirty="0" smtClean="0"/>
              <a:t> – </a:t>
            </a:r>
            <a:r>
              <a:rPr lang="en-IN" sz="2000" i="1" dirty="0" smtClean="0"/>
              <a:t>What should we do?</a:t>
            </a:r>
            <a:r>
              <a:rPr lang="en-IN" sz="2000" dirty="0" smtClean="0"/>
              <a:t/>
            </a:r>
            <a:br>
              <a:rPr lang="en-IN" sz="2000" dirty="0" smtClean="0"/>
            </a:br>
            <a:r>
              <a:rPr lang="en-IN" sz="2000" dirty="0" smtClean="0"/>
              <a:t>	→ Suggests actions using optimization and simulation models.</a:t>
            </a:r>
            <a:br>
              <a:rPr lang="en-IN" sz="2000" dirty="0" smtClean="0"/>
            </a:br>
            <a:r>
              <a:rPr lang="en-IN" sz="2000" dirty="0" smtClean="0"/>
              <a:t>	</a:t>
            </a:r>
            <a:r>
              <a:rPr lang="en-IN" sz="2000" b="1" dirty="0" smtClean="0"/>
              <a:t>Tools:</a:t>
            </a:r>
            <a:r>
              <a:rPr lang="en-IN" sz="2000" dirty="0" smtClean="0"/>
              <a:t> Python (</a:t>
            </a:r>
            <a:r>
              <a:rPr lang="en-IN" sz="2000" dirty="0" err="1" smtClean="0"/>
              <a:t>SciPy</a:t>
            </a:r>
            <a:r>
              <a:rPr lang="en-IN" sz="2000" dirty="0" smtClean="0"/>
              <a:t>, </a:t>
            </a:r>
            <a:r>
              <a:rPr lang="en-IN" sz="2000" dirty="0" err="1" smtClean="0"/>
              <a:t>Pyomo</a:t>
            </a:r>
            <a:r>
              <a:rPr lang="en-IN" sz="2000" dirty="0" smtClean="0"/>
              <a:t>), MATLAB, optimization solvers</a:t>
            </a:r>
            <a:endParaRPr lang="en-IN" sz="2000" dirty="0"/>
          </a:p>
        </p:txBody>
      </p:sp>
      <p:sp>
        <p:nvSpPr>
          <p:cNvPr id="5" name="Rectangle 4"/>
          <p:cNvSpPr/>
          <p:nvPr/>
        </p:nvSpPr>
        <p:spPr>
          <a:xfrm>
            <a:off x="2554376" y="429697"/>
            <a:ext cx="658962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800" dirty="0">
                <a:latin typeface="Google Sans"/>
              </a:rPr>
              <a:t>Types of Data Analytics</a:t>
            </a:r>
          </a:p>
        </p:txBody>
      </p:sp>
      <p:pic>
        <p:nvPicPr>
          <p:cNvPr id="3076" name="Picture 4" descr="What Is Data Analytics? A Comprehensive Guide for Beginn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237" y="2202681"/>
            <a:ext cx="4414385" cy="2944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3739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92137" y="1976296"/>
            <a:ext cx="67523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b="1" dirty="0" smtClean="0"/>
              <a:t>Programming:</a:t>
            </a:r>
            <a:r>
              <a:rPr lang="en-IN" sz="2400" dirty="0" smtClean="0"/>
              <a:t> Python, R, 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 smtClean="0"/>
              <a:t>Visualization:</a:t>
            </a:r>
            <a:r>
              <a:rPr lang="en-IN" sz="2400" dirty="0" smtClean="0"/>
              <a:t> Tableau, Power BI, </a:t>
            </a:r>
            <a:r>
              <a:rPr lang="en-IN" sz="2400" dirty="0" err="1" smtClean="0"/>
              <a:t>Matplotlib</a:t>
            </a:r>
            <a:r>
              <a:rPr lang="en-IN" sz="2400" dirty="0" smtClean="0"/>
              <a:t>, </a:t>
            </a:r>
            <a:r>
              <a:rPr lang="en-IN" sz="2400" dirty="0" err="1" smtClean="0"/>
              <a:t>Seaborn</a:t>
            </a:r>
            <a:endParaRPr lang="en-IN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 smtClean="0"/>
              <a:t>Databases:</a:t>
            </a:r>
            <a:r>
              <a:rPr lang="en-IN" sz="2400" dirty="0" smtClean="0"/>
              <a:t> MySQL, PostgreSQL, MongoDB</a:t>
            </a:r>
            <a:endParaRPr lang="en-IN" sz="2400" dirty="0"/>
          </a:p>
        </p:txBody>
      </p:sp>
      <p:sp>
        <p:nvSpPr>
          <p:cNvPr id="3" name="Rectangle 2"/>
          <p:cNvSpPr/>
          <p:nvPr/>
        </p:nvSpPr>
        <p:spPr>
          <a:xfrm>
            <a:off x="1924152" y="829747"/>
            <a:ext cx="808830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800" dirty="0">
                <a:latin typeface="Google Sans"/>
              </a:rPr>
              <a:t>Common Tools &amp; Languages</a:t>
            </a:r>
          </a:p>
        </p:txBody>
      </p:sp>
      <p:pic>
        <p:nvPicPr>
          <p:cNvPr id="2050" name="Picture 2" descr="Data Analytics Tools List : Top Latest tools covered in 20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156" y="3492177"/>
            <a:ext cx="5475247" cy="3079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257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854" y="386834"/>
            <a:ext cx="1028999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800" dirty="0">
                <a:latin typeface="Google Sans"/>
              </a:rPr>
              <a:t>Basic requirements for data analytics</a:t>
            </a:r>
            <a:endParaRPr lang="en-IN" sz="4800" dirty="0">
              <a:latin typeface="Google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76425" y="1831925"/>
            <a:ext cx="6096000" cy="39087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3200" b="1" dirty="0"/>
              <a:t>Data</a:t>
            </a:r>
          </a:p>
          <a:p>
            <a:r>
              <a:rPr lang="en-IN" sz="2400" dirty="0" smtClean="0"/>
              <a:t>You can’t do analytics without </a:t>
            </a:r>
            <a:r>
              <a:rPr lang="en-IN" sz="2400" b="1" dirty="0" smtClean="0"/>
              <a:t>data</a:t>
            </a:r>
            <a:r>
              <a:rPr lang="en-IN" sz="2400" dirty="0" smtClean="0"/>
              <a:t> — it’s the foundation.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 smtClean="0"/>
              <a:t>Sources:</a:t>
            </a:r>
            <a:r>
              <a:rPr lang="en-IN" sz="2400" dirty="0" smtClean="0"/>
              <a:t> Databases, Excel sheets, APIs, websites, sensors, surveys,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 smtClean="0"/>
              <a:t>Types of data:</a:t>
            </a:r>
            <a:endParaRPr lang="en-IN" sz="2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 smtClean="0"/>
              <a:t>Structured:</a:t>
            </a:r>
            <a:r>
              <a:rPr lang="en-IN" sz="2400" dirty="0" smtClean="0"/>
              <a:t> Tables, spreadsheets (rows and columns)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 smtClean="0"/>
              <a:t>Unstructured:</a:t>
            </a:r>
            <a:r>
              <a:rPr lang="en-IN" sz="2400" dirty="0" smtClean="0"/>
              <a:t> Text, images, videos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 smtClean="0"/>
              <a:t>Semi-structured:</a:t>
            </a:r>
            <a:r>
              <a:rPr lang="en-IN" sz="2400" dirty="0" smtClean="0"/>
              <a:t> JSON, XML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97773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854" y="386834"/>
            <a:ext cx="1028999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800" dirty="0">
                <a:latin typeface="Google Sans"/>
              </a:rPr>
              <a:t>Basic requirements for data analytics</a:t>
            </a:r>
            <a:endParaRPr lang="en-IN" sz="4800" dirty="0">
              <a:latin typeface="Google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76425" y="1831925"/>
            <a:ext cx="6096000" cy="46474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3200" b="1" dirty="0"/>
              <a:t>2. Tools &amp; Software</a:t>
            </a:r>
          </a:p>
          <a:p>
            <a:r>
              <a:rPr lang="en-IN" sz="2400" dirty="0" smtClean="0"/>
              <a:t>You’ll need tools to </a:t>
            </a:r>
            <a:r>
              <a:rPr lang="en-IN" sz="2400" b="1" dirty="0" smtClean="0"/>
              <a:t>store, clean, and </a:t>
            </a:r>
            <a:r>
              <a:rPr lang="en-IN" sz="2400" b="1" dirty="0" err="1" smtClean="0"/>
              <a:t>analyze</a:t>
            </a:r>
            <a:r>
              <a:rPr lang="en-IN" sz="2400" dirty="0" smtClean="0"/>
              <a:t> data.</a:t>
            </a:r>
            <a:br>
              <a:rPr lang="en-IN" sz="2400" dirty="0" smtClean="0"/>
            </a:br>
            <a:r>
              <a:rPr lang="en-IN" sz="2400" dirty="0" smtClean="0"/>
              <a:t>Common tools include:</a:t>
            </a:r>
          </a:p>
          <a:p>
            <a:r>
              <a:rPr lang="en-IN" sz="2400" b="1" dirty="0" smtClean="0"/>
              <a:t>Data Storage:</a:t>
            </a:r>
            <a:r>
              <a:rPr lang="en-IN" sz="2400" dirty="0" smtClean="0"/>
              <a:t> Excel, SQL databases (MySQL, PostgreSQL)</a:t>
            </a:r>
          </a:p>
          <a:p>
            <a:r>
              <a:rPr lang="en-IN" sz="2400" b="1" dirty="0" smtClean="0"/>
              <a:t>Data Cleaning &amp; Analysis:</a:t>
            </a:r>
            <a:r>
              <a:rPr lang="en-IN" sz="2400" dirty="0" smtClean="0"/>
              <a:t> Python (Pandas, </a:t>
            </a:r>
            <a:r>
              <a:rPr lang="en-IN" sz="2400" dirty="0" err="1" smtClean="0"/>
              <a:t>NumPy</a:t>
            </a:r>
            <a:r>
              <a:rPr lang="en-IN" sz="2400" dirty="0" smtClean="0"/>
              <a:t>), R, Excel</a:t>
            </a:r>
          </a:p>
          <a:p>
            <a:r>
              <a:rPr lang="en-IN" sz="2400" b="1" dirty="0" smtClean="0"/>
              <a:t>Data Visualization:</a:t>
            </a:r>
            <a:r>
              <a:rPr lang="en-IN" sz="2400" dirty="0" smtClean="0"/>
              <a:t> Power BI, Tableau, </a:t>
            </a:r>
            <a:r>
              <a:rPr lang="en-IN" sz="2400" dirty="0" err="1" smtClean="0"/>
              <a:t>Matplotlib</a:t>
            </a:r>
            <a:r>
              <a:rPr lang="en-IN" sz="2400" dirty="0" smtClean="0"/>
              <a:t>, </a:t>
            </a:r>
            <a:r>
              <a:rPr lang="en-IN" sz="2400" dirty="0" err="1" smtClean="0"/>
              <a:t>Seaborn</a:t>
            </a:r>
            <a:endParaRPr lang="en-IN" sz="2400" dirty="0" smtClean="0"/>
          </a:p>
          <a:p>
            <a:r>
              <a:rPr lang="en-IN" sz="2400" b="1" dirty="0" smtClean="0"/>
              <a:t>Big Data (for large-scale analytics):</a:t>
            </a:r>
            <a:r>
              <a:rPr lang="en-IN" sz="2400" dirty="0" smtClean="0"/>
              <a:t> Apache Spark, Hadoop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49058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854" y="386834"/>
            <a:ext cx="1028999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800" dirty="0">
                <a:latin typeface="Google Sans"/>
              </a:rPr>
              <a:t>Basic requirements for data analytics</a:t>
            </a:r>
            <a:endParaRPr lang="en-IN" sz="4800" dirty="0">
              <a:latin typeface="Google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76425" y="1831925"/>
            <a:ext cx="6096000" cy="390876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3200" b="1" dirty="0"/>
              <a:t>3. Technical Skills</a:t>
            </a:r>
          </a:p>
          <a:p>
            <a:r>
              <a:rPr lang="en-IN" sz="2400" dirty="0" smtClean="0"/>
              <a:t>Essential skills for a data analyst include:</a:t>
            </a:r>
          </a:p>
          <a:p>
            <a:r>
              <a:rPr lang="en-IN" sz="2400" b="1" dirty="0" smtClean="0"/>
              <a:t>Excel:</a:t>
            </a:r>
            <a:r>
              <a:rPr lang="en-IN" sz="2400" dirty="0" smtClean="0"/>
              <a:t> Basic formulas, pivot tables, charts</a:t>
            </a:r>
          </a:p>
          <a:p>
            <a:r>
              <a:rPr lang="en-IN" sz="2400" b="1" dirty="0" smtClean="0"/>
              <a:t>SQL:</a:t>
            </a:r>
            <a:r>
              <a:rPr lang="en-IN" sz="2400" dirty="0" smtClean="0"/>
              <a:t> Querying and managing databases</a:t>
            </a:r>
          </a:p>
          <a:p>
            <a:r>
              <a:rPr lang="en-IN" sz="2400" b="1" dirty="0" smtClean="0"/>
              <a:t>Python or R:</a:t>
            </a:r>
            <a:r>
              <a:rPr lang="en-IN" sz="2400" dirty="0" smtClean="0"/>
              <a:t> Data manipulation, analysis, and visualization</a:t>
            </a:r>
          </a:p>
          <a:p>
            <a:r>
              <a:rPr lang="en-IN" sz="2400" b="1" dirty="0" smtClean="0"/>
              <a:t>Statistics &amp; Math:</a:t>
            </a:r>
            <a:r>
              <a:rPr lang="en-IN" sz="2400" dirty="0" smtClean="0"/>
              <a:t> Mean, median, standard deviation, probability, hypothesis testing</a:t>
            </a:r>
          </a:p>
          <a:p>
            <a:r>
              <a:rPr lang="en-IN" sz="2400" b="1" dirty="0" smtClean="0"/>
              <a:t>Data Visualization:</a:t>
            </a:r>
            <a:r>
              <a:rPr lang="en-IN" sz="2400" dirty="0" smtClean="0"/>
              <a:t> Creating clear and informative charts and dashboards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60357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854" y="386834"/>
            <a:ext cx="1028999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800" dirty="0">
                <a:latin typeface="Google Sans"/>
              </a:rPr>
              <a:t>Basic requirements for data analytics</a:t>
            </a:r>
            <a:endParaRPr lang="en-IN" sz="4800" dirty="0">
              <a:latin typeface="Google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76425" y="1831925"/>
            <a:ext cx="8339138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/>
              <a:t>4. Understanding of Business / Domain Knowledge</a:t>
            </a:r>
          </a:p>
          <a:p>
            <a:r>
              <a:rPr lang="en-GB" sz="2400" dirty="0" smtClean="0"/>
              <a:t>Analytics is useful only when it solves real problems.</a:t>
            </a:r>
            <a:br>
              <a:rPr lang="en-GB" sz="2400" dirty="0" smtClean="0"/>
            </a:br>
            <a:r>
              <a:rPr lang="en-GB" sz="2400" dirty="0" smtClean="0"/>
              <a:t>You should understand:</a:t>
            </a:r>
          </a:p>
          <a:p>
            <a:r>
              <a:rPr lang="en-GB" sz="2400" dirty="0" smtClean="0"/>
              <a:t>The </a:t>
            </a:r>
            <a:r>
              <a:rPr lang="en-GB" sz="2400" b="1" dirty="0" smtClean="0"/>
              <a:t>goals</a:t>
            </a:r>
            <a:r>
              <a:rPr lang="en-GB" sz="2400" dirty="0" smtClean="0"/>
              <a:t> of the business (e.g., improve sales, reduce costs)</a:t>
            </a:r>
          </a:p>
          <a:p>
            <a:r>
              <a:rPr lang="en-GB" sz="2400" dirty="0" smtClean="0"/>
              <a:t>The </a:t>
            </a:r>
            <a:r>
              <a:rPr lang="en-GB" sz="2400" b="1" dirty="0" smtClean="0"/>
              <a:t>key metrics (KPIs)</a:t>
            </a:r>
            <a:r>
              <a:rPr lang="en-GB" sz="2400" dirty="0" smtClean="0"/>
              <a:t> that matter-</a:t>
            </a:r>
            <a:r>
              <a:rPr lang="en-GB" sz="2400" dirty="0"/>
              <a:t>a quantifiable measure used to track progress toward a specific business objective.</a:t>
            </a:r>
            <a:endParaRPr lang="en-GB" sz="2400" dirty="0" smtClean="0"/>
          </a:p>
          <a:p>
            <a:r>
              <a:rPr lang="en-GB" sz="2400" dirty="0" smtClean="0"/>
              <a:t>The </a:t>
            </a:r>
            <a:r>
              <a:rPr lang="en-GB" sz="2400" b="1" dirty="0" smtClean="0"/>
              <a:t>context</a:t>
            </a:r>
            <a:r>
              <a:rPr lang="en-GB" sz="2400" dirty="0" smtClean="0"/>
              <a:t> behind the data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08005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854" y="386834"/>
            <a:ext cx="1028999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800" dirty="0">
                <a:latin typeface="Google Sans"/>
              </a:rPr>
              <a:t>Basic requirements for data analytics</a:t>
            </a:r>
            <a:endParaRPr lang="en-IN" sz="4800" dirty="0">
              <a:latin typeface="Google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47825" y="2674888"/>
            <a:ext cx="6096000" cy="243143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3200" b="1" dirty="0" smtClean="0"/>
              <a:t>6. Analytical Thinking</a:t>
            </a:r>
          </a:p>
          <a:p>
            <a:r>
              <a:rPr lang="en-GB" sz="2400" dirty="0" smtClean="0"/>
              <a:t>You need to:</a:t>
            </a:r>
          </a:p>
          <a:p>
            <a:r>
              <a:rPr lang="en-GB" sz="2400" dirty="0" smtClean="0"/>
              <a:t>Ask the right questions</a:t>
            </a:r>
          </a:p>
          <a:p>
            <a:r>
              <a:rPr lang="en-GB" sz="2400" dirty="0" smtClean="0"/>
              <a:t>Identify patterns and trends</a:t>
            </a:r>
          </a:p>
          <a:p>
            <a:r>
              <a:rPr lang="en-GB" sz="2400" dirty="0" smtClean="0"/>
              <a:t>Draw logical conclusions from data</a:t>
            </a:r>
          </a:p>
          <a:p>
            <a:r>
              <a:rPr lang="en-GB" sz="2400" dirty="0" smtClean="0"/>
              <a:t>Communicate insights clearly</a:t>
            </a:r>
            <a:endParaRPr lang="en-GB" sz="2400" dirty="0"/>
          </a:p>
        </p:txBody>
      </p:sp>
      <p:pic>
        <p:nvPicPr>
          <p:cNvPr id="9218" name="Picture 2" descr="Analytical Thinking vs Critical Thinking - The Guide | Growth Hack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1985964"/>
            <a:ext cx="4463797" cy="4083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64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Data Collection: What It Is, Methods &amp; Tools + Examp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4" y="518"/>
            <a:ext cx="11452225" cy="6857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927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57360" y="279257"/>
            <a:ext cx="785824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800" dirty="0" smtClean="0">
                <a:latin typeface="Google Sans"/>
              </a:rPr>
              <a:t>Data collection and its types</a:t>
            </a:r>
            <a:endParaRPr lang="en-IN" sz="4800" dirty="0">
              <a:latin typeface="Google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44665" y="1258171"/>
            <a:ext cx="6096000" cy="54476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/>
              <a:t>1</a:t>
            </a:r>
            <a:r>
              <a:rPr lang="en-GB" sz="2400" b="1" dirty="0"/>
              <a:t>. Primary Data Collection</a:t>
            </a:r>
          </a:p>
          <a:p>
            <a:pPr>
              <a:spcAft>
                <a:spcPts val="1200"/>
              </a:spcAft>
            </a:pPr>
            <a:r>
              <a:rPr lang="en-GB" dirty="0"/>
              <a:t>Data collected </a:t>
            </a:r>
            <a:r>
              <a:rPr lang="en-GB" b="1" dirty="0"/>
              <a:t>first-hand</a:t>
            </a:r>
            <a:r>
              <a:rPr lang="en-GB" dirty="0"/>
              <a:t> specifically for your analysis or research.</a:t>
            </a:r>
          </a:p>
          <a:p>
            <a:r>
              <a:rPr lang="en-GB" sz="2000" b="1" dirty="0"/>
              <a:t>a. Surveys &amp; Questionnaires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Online forms, polls, feedback forms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Useful for large samples and quantifiable insights</a:t>
            </a:r>
          </a:p>
          <a:p>
            <a:r>
              <a:rPr lang="en-GB" sz="2000" b="1" dirty="0"/>
              <a:t>b. Interviews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Structured, semi-structured, or unstructured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Generates deep, qualitative insights</a:t>
            </a:r>
          </a:p>
          <a:p>
            <a:r>
              <a:rPr lang="en-GB" sz="2000" b="1" dirty="0"/>
              <a:t>c. Observations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Watching </a:t>
            </a:r>
            <a:r>
              <a:rPr lang="en-GB" dirty="0" err="1"/>
              <a:t>behaviors</a:t>
            </a:r>
            <a:r>
              <a:rPr lang="en-GB" dirty="0"/>
              <a:t>, processes, interactions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Can be direct (in person) or indirect (CCTV, system logs)</a:t>
            </a:r>
          </a:p>
          <a:p>
            <a:r>
              <a:rPr lang="en-GB" sz="2000" b="1" dirty="0"/>
              <a:t>d. Experiments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Controlled testing (A/B testing, usability tests)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Helps determine cause-and-effect relationships</a:t>
            </a:r>
          </a:p>
          <a:p>
            <a:r>
              <a:rPr lang="en-GB" sz="2000" b="1" dirty="0"/>
              <a:t>e. Focus Groups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Small group discussions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Useful for testing product ideas, opinions, motivations</a:t>
            </a:r>
          </a:p>
        </p:txBody>
      </p:sp>
      <p:pic>
        <p:nvPicPr>
          <p:cNvPr id="1026" name="Picture 2" descr="Data Collection : Methods and Examples To Collect Data in Right Way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2210" y="2765530"/>
            <a:ext cx="5032730" cy="2801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6009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80765" y="1580980"/>
            <a:ext cx="6096000" cy="42011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400" b="1" dirty="0"/>
              <a:t>2. Secondary Data Collection</a:t>
            </a:r>
          </a:p>
          <a:p>
            <a:pPr>
              <a:lnSpc>
                <a:spcPct val="150000"/>
              </a:lnSpc>
            </a:pPr>
            <a:r>
              <a:rPr lang="en-GB" dirty="0"/>
              <a:t>Uses data that is </a:t>
            </a:r>
            <a:r>
              <a:rPr lang="en-GB" b="1" dirty="0"/>
              <a:t>already existing</a:t>
            </a:r>
            <a:r>
              <a:rPr lang="en-GB" dirty="0"/>
              <a:t>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Examples: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Government databases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Corporate reports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Industry research, journals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Historical datasets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Third-party analytics platforms (e.g., Google Analytics, </a:t>
            </a:r>
            <a:r>
              <a:rPr lang="en-GB" dirty="0" err="1"/>
              <a:t>Kaggle</a:t>
            </a:r>
            <a:r>
              <a:rPr lang="en-GB" dirty="0"/>
              <a:t> datasets)</a:t>
            </a:r>
          </a:p>
          <a:p>
            <a:pPr>
              <a:lnSpc>
                <a:spcPct val="150000"/>
              </a:lnSpc>
            </a:pPr>
            <a:r>
              <a:rPr lang="en-GB" dirty="0"/>
              <a:t>Use this when primary collection is costly or unnecessary.</a:t>
            </a:r>
          </a:p>
        </p:txBody>
      </p:sp>
      <p:sp>
        <p:nvSpPr>
          <p:cNvPr id="3" name="Rectangle 2"/>
          <p:cNvSpPr/>
          <p:nvPr/>
        </p:nvSpPr>
        <p:spPr>
          <a:xfrm>
            <a:off x="1857360" y="279257"/>
            <a:ext cx="785824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800" dirty="0" smtClean="0">
                <a:latin typeface="Google Sans"/>
              </a:rPr>
              <a:t>Data collection and its types</a:t>
            </a:r>
            <a:endParaRPr lang="en-IN" sz="4800" dirty="0"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945011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57360" y="279257"/>
            <a:ext cx="785824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800" dirty="0" smtClean="0">
                <a:latin typeface="Google Sans"/>
              </a:rPr>
              <a:t>Data collection and its types</a:t>
            </a:r>
            <a:endParaRPr lang="en-IN" sz="4800" dirty="0">
              <a:latin typeface="Google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34552" y="1110254"/>
            <a:ext cx="6096000" cy="558935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3. Automated / Digital Data Collection</a:t>
            </a:r>
          </a:p>
          <a:p>
            <a:pPr>
              <a:lnSpc>
                <a:spcPct val="150000"/>
              </a:lnSpc>
            </a:pPr>
            <a:r>
              <a:rPr lang="en-IN" dirty="0"/>
              <a:t>Collected automatically from digital systems.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a. Web Analytics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</a:t>
            </a:r>
            <a:r>
              <a:rPr lang="en-IN" dirty="0" smtClean="0"/>
              <a:t>tream </a:t>
            </a:r>
            <a:r>
              <a:rPr lang="en-IN" dirty="0"/>
              <a:t>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Traffic logs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Customer purchase paths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b. Sensor / </a:t>
            </a:r>
            <a:r>
              <a:rPr lang="en-IN" b="1" dirty="0" err="1"/>
              <a:t>IoT</a:t>
            </a:r>
            <a:r>
              <a:rPr lang="en-IN" b="1" dirty="0"/>
              <a:t>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Temperature, motion, GPS, machine status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c. System Logs &amp; Machine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Server logs, error logs, application logs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d. API Data Collection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Pulling data from online platforms through APIs</a:t>
            </a:r>
            <a:br>
              <a:rPr lang="en-IN" dirty="0"/>
            </a:br>
            <a:r>
              <a:rPr lang="en-IN" dirty="0"/>
              <a:t>(e.g., Twitter API, financial market APIs)</a:t>
            </a:r>
          </a:p>
        </p:txBody>
      </p:sp>
    </p:spTree>
    <p:extLst>
      <p:ext uri="{BB962C8B-B14F-4D97-AF65-F5344CB8AC3E}">
        <p14:creationId xmlns:p14="http://schemas.microsoft.com/office/powerpoint/2010/main" val="787476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57360" y="279257"/>
            <a:ext cx="785824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800" dirty="0" smtClean="0">
                <a:latin typeface="Google Sans"/>
              </a:rPr>
              <a:t>Data collection and its types</a:t>
            </a:r>
            <a:endParaRPr lang="en-IN" sz="4800" dirty="0">
              <a:latin typeface="Google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05850" y="1313907"/>
            <a:ext cx="6096000" cy="292387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4. Transactional Data Collection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Data captured from business</a:t>
            </a:r>
            <a:r>
              <a:rPr lang="en-US" altLang="en-US" b="1" dirty="0" smtClean="0">
                <a:latin typeface="Arial" panose="020B0604020202020204" pitchFamily="34" charset="0"/>
              </a:rPr>
              <a:t> transactions</a:t>
            </a:r>
            <a:r>
              <a:rPr lang="en-US" altLang="en-US" dirty="0">
                <a:latin typeface="Arial" panose="020B0604020202020204" pitchFamily="34" charset="0"/>
              </a:rPr>
              <a:t>, such as: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Sales receipts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Online orders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Banking transactions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Inventory updates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Arial" panose="020B0604020202020204" pitchFamily="34" charset="0"/>
              </a:rPr>
              <a:t>This is common in retail, finance, and supply </a:t>
            </a:r>
            <a:r>
              <a:rPr lang="en-US" altLang="en-US" dirty="0" smtClean="0">
                <a:latin typeface="Arial" panose="020B0604020202020204" pitchFamily="34" charset="0"/>
              </a:rPr>
              <a:t>chains.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2311720" y="4365010"/>
            <a:ext cx="6096000" cy="249299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✅ 5. Social Media &amp; User-Generated Data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Arial" panose="020B0604020202020204" pitchFamily="34" charset="0"/>
              </a:rPr>
              <a:t>Collected from</a:t>
            </a:r>
            <a:r>
              <a:rPr lang="en-US" altLang="en-US" sz="1100" dirty="0">
                <a:latin typeface="Arial" panose="020B0604020202020204" pitchFamily="34" charset="0"/>
              </a:rPr>
              <a:t>: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Social media posts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Comments &amp; reviews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Likes, shares, engagement levels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Arial" panose="020B0604020202020204" pitchFamily="34" charset="0"/>
              </a:rPr>
              <a:t>Useful for sentiment analysis and trend detection.</a:t>
            </a:r>
          </a:p>
        </p:txBody>
      </p:sp>
    </p:spTree>
    <p:extLst>
      <p:ext uri="{BB962C8B-B14F-4D97-AF65-F5344CB8AC3E}">
        <p14:creationId xmlns:p14="http://schemas.microsoft.com/office/powerpoint/2010/main" val="2146075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57360" y="279257"/>
            <a:ext cx="785824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800" dirty="0" smtClean="0">
                <a:latin typeface="Google Sans"/>
              </a:rPr>
              <a:t>Data collection and its types</a:t>
            </a:r>
            <a:endParaRPr lang="en-IN" sz="4800" dirty="0">
              <a:latin typeface="Google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57359" y="1161631"/>
            <a:ext cx="7858242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b="1" dirty="0"/>
              <a:t>6. Big Data Collection</a:t>
            </a:r>
          </a:p>
          <a:p>
            <a:pPr>
              <a:spcAft>
                <a:spcPts val="600"/>
              </a:spcAft>
            </a:pPr>
            <a:r>
              <a:rPr lang="en-IN" dirty="0"/>
              <a:t>Massive, fast-moving data from: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Streaming platforms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Sensors &amp; </a:t>
            </a:r>
            <a:r>
              <a:rPr lang="en-IN" dirty="0" err="1"/>
              <a:t>IoT</a:t>
            </a:r>
            <a:endParaRPr lang="en-IN" dirty="0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Large-scale web logs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Cloud apps generating real-time </a:t>
            </a:r>
            <a:r>
              <a:rPr lang="en-IN" dirty="0" smtClean="0"/>
              <a:t>data Uses </a:t>
            </a:r>
            <a:r>
              <a:rPr lang="en-IN" dirty="0"/>
              <a:t>technologies like Kafka, Hadoop, Spark.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551485"/>
              </p:ext>
            </p:extLst>
          </p:nvPr>
        </p:nvGraphicFramePr>
        <p:xfrm>
          <a:off x="617836" y="3805517"/>
          <a:ext cx="11094552" cy="2850777"/>
        </p:xfrm>
        <a:graphic>
          <a:graphicData uri="http://schemas.openxmlformats.org/drawingml/2006/table">
            <a:tbl>
              <a:tblPr/>
              <a:tblGrid>
                <a:gridCol w="3698185"/>
                <a:gridCol w="3187437"/>
                <a:gridCol w="4208930"/>
              </a:tblGrid>
              <a:tr h="471147">
                <a:tc>
                  <a:txBody>
                    <a:bodyPr/>
                    <a:lstStyle/>
                    <a:p>
                      <a:r>
                        <a:rPr lang="en-IN" dirty="0"/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Best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0830">
                <a:tc>
                  <a:txBody>
                    <a:bodyPr/>
                    <a:lstStyle/>
                    <a:p>
                      <a:r>
                        <a:rPr lang="en-IN" b="1" dirty="0"/>
                        <a:t>Primary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Surveys, interviews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Fresh insights, specific research questions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1667">
                <a:tc>
                  <a:txBody>
                    <a:bodyPr/>
                    <a:lstStyle/>
                    <a:p>
                      <a:r>
                        <a:rPr lang="en-IN" b="1"/>
                        <a:t>Secondary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Government reports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Cost-effective, historical trends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1667">
                <a:tc>
                  <a:txBody>
                    <a:bodyPr/>
                    <a:lstStyle/>
                    <a:p>
                      <a:r>
                        <a:rPr lang="en-IN" b="1" dirty="0"/>
                        <a:t>Digital/Automated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Web logs, APIs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Real-time 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1667">
                <a:tc>
                  <a:txBody>
                    <a:bodyPr/>
                    <a:lstStyle/>
                    <a:p>
                      <a:r>
                        <a:rPr lang="en-IN" b="1"/>
                        <a:t>Transactional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Sales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Business intelligence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1667">
                <a:tc>
                  <a:txBody>
                    <a:bodyPr/>
                    <a:lstStyle/>
                    <a:p>
                      <a:r>
                        <a:rPr lang="en-IN" b="1"/>
                        <a:t>Social Media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Tweets, reviews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Sentiment &amp; trend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1667">
                <a:tc>
                  <a:txBody>
                    <a:bodyPr/>
                    <a:lstStyle/>
                    <a:p>
                      <a:r>
                        <a:rPr lang="en-IN" b="1"/>
                        <a:t>Big Data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IoT, streaming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Predictive </a:t>
                      </a:r>
                      <a:r>
                        <a:rPr lang="en-IN" dirty="0" err="1"/>
                        <a:t>modeling</a:t>
                      </a:r>
                      <a:r>
                        <a:rPr lang="en-IN" dirty="0"/>
                        <a:t> &amp; 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843497" y="3436185"/>
            <a:ext cx="18859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Summary Table</a:t>
            </a:r>
          </a:p>
        </p:txBody>
      </p:sp>
    </p:spTree>
    <p:extLst>
      <p:ext uri="{BB962C8B-B14F-4D97-AF65-F5344CB8AC3E}">
        <p14:creationId xmlns:p14="http://schemas.microsoft.com/office/powerpoint/2010/main" val="2558447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06984" y="346492"/>
            <a:ext cx="8663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sz="4800" dirty="0" smtClean="0"/>
              <a:t>Challenges </a:t>
            </a:r>
            <a:r>
              <a:rPr lang="en-IN" sz="4800" dirty="0"/>
              <a:t>in data collection</a:t>
            </a:r>
            <a:endParaRPr lang="en-IN" sz="4800" dirty="0">
              <a:latin typeface="Google Sans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094795" y="1537540"/>
            <a:ext cx="4881585" cy="2108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✅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Data Quality Issues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Incomplete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Inaccurate or inconsistent responses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Outdated information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errors in manual entry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048104" y="3519191"/>
            <a:ext cx="492827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2. Privacy and Ethical Concerns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Collecting sensitive personal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 with DPDP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consent and secure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104" y="5104696"/>
            <a:ext cx="7398373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✅ </a:t>
            </a:r>
            <a:r>
              <a:rPr lang="en-GB" b="1" dirty="0" smtClean="0"/>
              <a:t>3. </a:t>
            </a:r>
            <a:r>
              <a:rPr lang="en-GB" b="1" dirty="0"/>
              <a:t>Lack of Proper Tools or Technology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</a:rPr>
              <a:t>Limited access to data collection software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</a:rPr>
              <a:t>Incompatible systems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</a:rPr>
              <a:t>Difficulty in integrating data from multiple sources</a:t>
            </a:r>
          </a:p>
        </p:txBody>
      </p:sp>
    </p:spTree>
    <p:extLst>
      <p:ext uri="{BB962C8B-B14F-4D97-AF65-F5344CB8AC3E}">
        <p14:creationId xmlns:p14="http://schemas.microsoft.com/office/powerpoint/2010/main" val="92661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20431" y="279257"/>
            <a:ext cx="713855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IN" sz="4800" dirty="0" smtClean="0"/>
              <a:t>Challenges </a:t>
            </a:r>
            <a:r>
              <a:rPr lang="en-IN" sz="4800" dirty="0"/>
              <a:t>in data collection</a:t>
            </a:r>
            <a:endParaRPr lang="en-IN" sz="4800" dirty="0">
              <a:latin typeface="Google Sans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039816" y="1495636"/>
            <a:ext cx="5125121" cy="2108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✅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Respondent-Related Issues (for primary data)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Unwilling or unresponsive participants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Biased answers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Misunderstanding questions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survey completion rates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039816" y="3309266"/>
            <a:ext cx="427873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6. Data Overload (Too Much Data)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Hard to process or clean large volumes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 issues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 that reduces analysis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999099" y="4768952"/>
            <a:ext cx="4902945" cy="140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7. Inconsistent Data Formats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Different units, file types, naming conventions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to merge or compare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104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62477" y="306151"/>
            <a:ext cx="713855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IN" sz="4800" dirty="0" smtClean="0"/>
              <a:t>Challenges </a:t>
            </a:r>
            <a:r>
              <a:rPr lang="en-IN" sz="4800" dirty="0"/>
              <a:t>in data collection</a:t>
            </a:r>
            <a:endParaRPr lang="en-IN" sz="4800" dirty="0">
              <a:latin typeface="Google Sans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262208" y="1667923"/>
            <a:ext cx="300915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✅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 Accessibility Problems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Restricted or paid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Organizational silos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permissions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262208" y="3186923"/>
            <a:ext cx="4317207" cy="140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9. Technical and Security Challenges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Network failures during digital collection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of cyberattacks or data breaches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262208" y="4351979"/>
            <a:ext cx="401533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10. Real-Time Data Collection Issues</a:t>
            </a:r>
          </a:p>
          <a:p>
            <a:pPr marR="0" lvl="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Latency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reliability (sensors/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 interruptions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312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03057" y="501134"/>
            <a:ext cx="586045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IN" sz="4800" dirty="0"/>
              <a:t>Ethics in Data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2389094" y="1332131"/>
            <a:ext cx="75213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/>
              <a:t>Ethics in data analytics refers to the responsible, fair, and transparent handling of data throughout its lifecycle—collection, storage, analysis, and sharing</a:t>
            </a:r>
            <a:endParaRPr lang="en-IN" b="1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218765" y="2160896"/>
            <a:ext cx="594688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✅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Privacy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Respecting user privacy and personal boundaries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Collecting only the data that is necessary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Avoiding intrusive or hidden data collection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Not collecting users’ locations unless required.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218765" y="3736517"/>
            <a:ext cx="5391284" cy="207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2. Informed Consent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Users must know what data is being collected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Consent must be clear, voluntary, and revocable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vague or deceptive data policies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Apps showing clear permission requests.</a:t>
            </a:r>
          </a:p>
        </p:txBody>
      </p:sp>
    </p:spTree>
    <p:extLst>
      <p:ext uri="{BB962C8B-B14F-4D97-AF65-F5344CB8AC3E}">
        <p14:creationId xmlns:p14="http://schemas.microsoft.com/office/powerpoint/2010/main" val="370039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03057" y="501134"/>
            <a:ext cx="586045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IN" sz="4800" dirty="0"/>
              <a:t>Ethics in Data Analytics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501154" y="1745013"/>
            <a:ext cx="651011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✅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Data Security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Protecting data from unauthorized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encryption, secure storage, and strong access controls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Ensuring safe transfer of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Encrypting user data stored on servers.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501154" y="3401233"/>
            <a:ext cx="6263253" cy="207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4. Transparency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Being open about how data is used, stored, and analyzed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Making algorithms or decisions explainable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Disclosing data sources and limitations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Explaining how a recommendation system works.</a:t>
            </a:r>
          </a:p>
        </p:txBody>
      </p:sp>
    </p:spTree>
    <p:extLst>
      <p:ext uri="{BB962C8B-B14F-4D97-AF65-F5344CB8AC3E}">
        <p14:creationId xmlns:p14="http://schemas.microsoft.com/office/powerpoint/2010/main" val="3926723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03057" y="501134"/>
            <a:ext cx="586045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IN" sz="4800" dirty="0"/>
              <a:t>Ethics in Data Analytics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949823" y="1809908"/>
            <a:ext cx="880241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✅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Fairness &amp; Avoiding Bias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Ensuring that data and algorithms do not discriminate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Avoiding biased training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for unequal impacts on groups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Preventing credit scoring algorithms from discriminating against minorities.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949823" y="3598185"/>
            <a:ext cx="8315097" cy="207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6. Accountability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Organizations must take responsibility for data misuse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governance, auditing, and ethical review processes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Defining who is accountable for decisions driven by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Holding a team accountable for incorrect predictions that cause harm.</a:t>
            </a:r>
          </a:p>
        </p:txBody>
      </p:sp>
    </p:spTree>
    <p:extLst>
      <p:ext uri="{BB962C8B-B14F-4D97-AF65-F5344CB8AC3E}">
        <p14:creationId xmlns:p14="http://schemas.microsoft.com/office/powerpoint/2010/main" val="2718935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03057" y="501134"/>
            <a:ext cx="586045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IN" sz="4800" dirty="0"/>
              <a:t>Ethics in Data Analytics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926058" y="1652317"/>
            <a:ext cx="550567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✅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Data Accuracy &amp; Integrity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Ensuring data is correct, complete, and reliable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Avoiding manipulation of data for desired outcomes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Maintaining transparency about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Verifying data sources before analysis.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894672" y="3298921"/>
            <a:ext cx="7378943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8. Purpose Limitation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data only for the purpose it was collected for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misusing data for unrelated or harmful activities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Not selling customer data to third parties without permission.</a:t>
            </a:r>
          </a:p>
        </p:txBody>
      </p:sp>
    </p:spTree>
    <p:extLst>
      <p:ext uri="{BB962C8B-B14F-4D97-AF65-F5344CB8AC3E}">
        <p14:creationId xmlns:p14="http://schemas.microsoft.com/office/powerpoint/2010/main" val="324489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03057" y="501134"/>
            <a:ext cx="586045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IN" sz="4800" dirty="0"/>
              <a:t>Ethics in Data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5282" y="4109954"/>
            <a:ext cx="6096000" cy="143116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✅ </a:t>
            </a:r>
            <a:r>
              <a:rPr lang="en-GB" b="1" dirty="0" smtClean="0"/>
              <a:t>10</a:t>
            </a:r>
            <a:r>
              <a:rPr lang="en-GB" b="1" dirty="0"/>
              <a:t>. Ethical Use of AI &amp; Automation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Making automated decisions accountable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Avoiding black-box models that cannot be explained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Monitoring AI systems continuously for harmful </a:t>
            </a:r>
            <a:r>
              <a:rPr lang="en-GB" dirty="0" err="1"/>
              <a:t>behavior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2885282" y="1728463"/>
            <a:ext cx="6096000" cy="19851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✅ </a:t>
            </a:r>
            <a:r>
              <a:rPr lang="en-GB" b="1" dirty="0" smtClean="0"/>
              <a:t>9</a:t>
            </a:r>
            <a:r>
              <a:rPr lang="en-GB" b="1" dirty="0"/>
              <a:t>. Avoiding Harm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Ensuring analytics does not cause psychological, financial, or social harm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Considering the wider impact of analytics-driven decisions</a:t>
            </a:r>
          </a:p>
          <a:p>
            <a:pPr>
              <a:spcAft>
                <a:spcPts val="600"/>
              </a:spcAft>
            </a:pPr>
            <a:r>
              <a:rPr lang="en-GB" dirty="0"/>
              <a:t>Example: Avoiding analytics that unfairly excludes people from services.</a:t>
            </a:r>
          </a:p>
        </p:txBody>
      </p:sp>
    </p:spTree>
    <p:extLst>
      <p:ext uri="{BB962C8B-B14F-4D97-AF65-F5344CB8AC3E}">
        <p14:creationId xmlns:p14="http://schemas.microsoft.com/office/powerpoint/2010/main" val="2157186655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9FF7CA0D-8839-4012-B51C-B152F9BD65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121</TotalTime>
  <Words>1321</Words>
  <Application>Microsoft Office PowerPoint</Application>
  <PresentationFormat>Widescreen</PresentationFormat>
  <Paragraphs>234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 Light</vt:lpstr>
      <vt:lpstr>Google Sans</vt:lpstr>
      <vt:lpstr>Wingdings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LIVEWIRE</dc:creator>
  <cp:lastModifiedBy>LIVEWIRE</cp:lastModifiedBy>
  <cp:revision>10</cp:revision>
  <dcterms:created xsi:type="dcterms:W3CDTF">2025-11-10T12:25:42Z</dcterms:created>
  <dcterms:modified xsi:type="dcterms:W3CDTF">2025-11-11T13:51:45Z</dcterms:modified>
</cp:coreProperties>
</file>